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6/2PfTZD+YvJQtgmtv+LUpCD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CEA491-6694-41A5-8049-A38F30CFA198}">
  <a:tblStyle styleId="{80CEA491-6694-41A5-8049-A38F30CFA19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044895D-7EF4-4A6B-92A9-B655BD613CE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A80D55-018E-4ADF-9C5F-7C4B4FE6E261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8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</p:txBody>
      </p:sp>
      <p:sp>
        <p:nvSpPr>
          <p:cNvPr id="220" name="Google Shape;220;p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3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9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p59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60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60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6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61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62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62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6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63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64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64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6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p65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6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66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1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13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>
  <p:cSld name="1_제목만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>
  <p:cSld name="구역 머리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>
  <p:cSld name="콘텐츠 2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>
  <p:cSld name="비교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>
  <p:cSld name="제목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>
  <p:cSld name="캡션 있는 콘텐츠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4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4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>
  <p:cSld name="캡션 있는 그림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5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35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5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>
  <p:cSld name="제목 및 세로 텍스트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>
  <p:cSld name="세로 제목 및 텍스트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7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9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9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39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구역 머리글">
  <p:cSld name="1_구역 머리글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0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40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콘텐츠 2개">
  <p:cSld name="1_콘텐츠 2개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1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비교">
  <p:cSld name="1_비교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2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42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42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캡션 있는 콘텐츠">
  <p:cSld name="1_캡션 있는 콘텐츠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3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캡션 있는 그림">
  <p:cSld name="1_캡션 있는 그림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4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4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세로 제목 및 텍스트">
  <p:cSld name="1_세로 제목 및 텍스트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sldNum" idx="12"/>
          </p:nvPr>
        </p:nvSpPr>
        <p:spPr>
          <a:xfrm>
            <a:off x="11062512" y="6401219"/>
            <a:ext cx="291288" cy="2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6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47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구역 머리글">
  <p:cSld name="2_구역 머리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8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48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콘텐츠 2개">
  <p:cSld name="2_콘텐츠 2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9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비교">
  <p:cSld name="2_비교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0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0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50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50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>
  <p:cSld name="1_제목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1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캡션 있는 콘텐츠">
  <p:cSld name="2_캡션 있는 콘텐츠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52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52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캡션 있는 그림">
  <p:cSld name="2_캡션 있는 그림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53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53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세로 텍스트">
  <p:cSld name="1_제목 및 세로 텍스트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54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세로 제목 및 텍스트">
  <p:cSld name="2_세로 제목 및 텍스트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55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7"/>
          <p:cNvSpPr txBox="1">
            <a:spLocks noGrp="1"/>
          </p:cNvSpPr>
          <p:nvPr>
            <p:ph type="title"/>
          </p:nvPr>
        </p:nvSpPr>
        <p:spPr>
          <a:xfrm>
            <a:off x="457199" y="1420283"/>
            <a:ext cx="5181601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57"/>
          <p:cNvSpPr txBox="1">
            <a:spLocks noGrp="1"/>
          </p:cNvSpPr>
          <p:nvPr>
            <p:ph type="body" idx="1"/>
          </p:nvPr>
        </p:nvSpPr>
        <p:spPr>
          <a:xfrm>
            <a:off x="914399" y="2590800"/>
            <a:ext cx="4267201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57"/>
          <p:cNvSpPr txBox="1">
            <a:spLocks noGrp="1"/>
          </p:cNvSpPr>
          <p:nvPr>
            <p:ph type="sldNum" idx="12"/>
          </p:nvPr>
        </p:nvSpPr>
        <p:spPr>
          <a:xfrm>
            <a:off x="5592371" y="4273830"/>
            <a:ext cx="198830" cy="17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8"/>
          <p:cNvSpPr txBox="1">
            <a:spLocks noGrp="1"/>
          </p:cNvSpPr>
          <p:nvPr>
            <p:ph type="title"/>
          </p:nvPr>
        </p:nvSpPr>
        <p:spPr>
          <a:xfrm>
            <a:off x="457199" y="1420283"/>
            <a:ext cx="5181601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8"/>
          <p:cNvSpPr txBox="1">
            <a:spLocks noGrp="1"/>
          </p:cNvSpPr>
          <p:nvPr>
            <p:ph type="body" idx="1"/>
          </p:nvPr>
        </p:nvSpPr>
        <p:spPr>
          <a:xfrm>
            <a:off x="914399" y="2590800"/>
            <a:ext cx="4267201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58"/>
          <p:cNvSpPr txBox="1">
            <a:spLocks noGrp="1"/>
          </p:cNvSpPr>
          <p:nvPr>
            <p:ph type="sldNum" idx="12"/>
          </p:nvPr>
        </p:nvSpPr>
        <p:spPr>
          <a:xfrm>
            <a:off x="11790375" y="6542896"/>
            <a:ext cx="198425" cy="17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11286190" y="6402716"/>
            <a:ext cx="291898" cy="27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B65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"/>
          <p:cNvSpPr/>
          <p:nvPr/>
        </p:nvSpPr>
        <p:spPr>
          <a:xfrm rot="10800000" flipH="1">
            <a:off x="0" y="5573488"/>
            <a:ext cx="6096000" cy="1284512"/>
          </a:xfrm>
          <a:prstGeom prst="round2SameRect">
            <a:avLst>
              <a:gd name="adj1" fmla="val 2837"/>
              <a:gd name="adj2" fmla="val 0"/>
            </a:avLst>
          </a:prstGeom>
          <a:solidFill>
            <a:srgbClr val="0049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2143007" y="2480611"/>
            <a:ext cx="840646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ko-KR" sz="32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인공지능 학습용 데이터 구축</a:t>
            </a:r>
            <a:endParaRPr sz="32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"/>
          <p:cNvCxnSpPr/>
          <p:nvPr/>
        </p:nvCxnSpPr>
        <p:spPr>
          <a:xfrm>
            <a:off x="4900789" y="1924047"/>
            <a:ext cx="2890896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25" name="Google Shape;225;p1"/>
          <p:cNvSpPr txBox="1"/>
          <p:nvPr/>
        </p:nvSpPr>
        <p:spPr>
          <a:xfrm>
            <a:off x="5254913" y="4293636"/>
            <a:ext cx="218264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2026. 06. 30 (화)</a:t>
            </a:r>
            <a:endParaRPr sz="2000" b="1" i="0" u="none" strike="noStrike" cap="none">
              <a:solidFill>
                <a:srgbClr val="2323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 txBox="1"/>
          <p:nvPr/>
        </p:nvSpPr>
        <p:spPr>
          <a:xfrm>
            <a:off x="775539" y="6033586"/>
            <a:ext cx="38551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주관기관 : ㈜어반데이터랩</a:t>
            </a:r>
            <a:endParaRPr sz="1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9779180" y="388066"/>
            <a:ext cx="2088355" cy="13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 txBox="1"/>
          <p:nvPr/>
        </p:nvSpPr>
        <p:spPr>
          <a:xfrm>
            <a:off x="4843380" y="1400064"/>
            <a:ext cx="35724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Arial"/>
              <a:buNone/>
            </a:pPr>
            <a:r>
              <a:rPr lang="ko-KR" altLang="en-US" sz="3200" b="1" i="0" u="none" strike="noStrike" cap="none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중간보고</a:t>
            </a:r>
            <a:r>
              <a:rPr lang="ko-KR" sz="3200" b="1" i="0" u="none" strike="noStrike" cap="none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 회의(</a:t>
            </a:r>
            <a:r>
              <a:rPr lang="en-US" altLang="ko-KR" sz="3200" b="1" i="0" u="none" strike="noStrike" cap="none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ko-KR" sz="3200" b="1" i="0" u="none" strike="noStrike" cap="none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월) </a:t>
            </a:r>
            <a:endParaRPr sz="3200" b="1" i="0" u="none" strike="noStrike" cap="none" dirty="0">
              <a:solidFill>
                <a:srgbClr val="2323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/>
          <p:nvPr/>
        </p:nvSpPr>
        <p:spPr>
          <a:xfrm rot="10800000" flipH="1">
            <a:off x="6086272" y="5583215"/>
            <a:ext cx="6096000" cy="1284511"/>
          </a:xfrm>
          <a:prstGeom prst="round2SameRect">
            <a:avLst>
              <a:gd name="adj1" fmla="val 2837"/>
              <a:gd name="adj2" fmla="val 0"/>
            </a:avLst>
          </a:prstGeom>
          <a:noFill/>
          <a:ln w="19050" cap="flat" cmpd="sng">
            <a:solidFill>
              <a:srgbClr val="D8D8D8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1"/>
          <p:cNvGrpSpPr/>
          <p:nvPr/>
        </p:nvGrpSpPr>
        <p:grpSpPr>
          <a:xfrm>
            <a:off x="6671800" y="5829247"/>
            <a:ext cx="4859453" cy="747232"/>
            <a:chOff x="1455510" y="5691618"/>
            <a:chExt cx="4859453" cy="747232"/>
          </a:xfrm>
        </p:grpSpPr>
        <p:grpSp>
          <p:nvGrpSpPr>
            <p:cNvPr id="231" name="Google Shape;231;p1"/>
            <p:cNvGrpSpPr/>
            <p:nvPr/>
          </p:nvGrpSpPr>
          <p:grpSpPr>
            <a:xfrm>
              <a:off x="1455510" y="5691618"/>
              <a:ext cx="1329249" cy="747232"/>
              <a:chOff x="1455510" y="5691618"/>
              <a:chExt cx="1329249" cy="747232"/>
            </a:xfrm>
          </p:grpSpPr>
          <p:cxnSp>
            <p:nvCxnSpPr>
              <p:cNvPr id="232" name="Google Shape;232;p1"/>
              <p:cNvCxnSpPr/>
              <p:nvPr/>
            </p:nvCxnSpPr>
            <p:spPr>
              <a:xfrm rot="10800000" flipH="1">
                <a:off x="1455510" y="5691618"/>
                <a:ext cx="1" cy="747232"/>
              </a:xfrm>
              <a:prstGeom prst="straightConnector1">
                <a:avLst/>
              </a:prstGeom>
              <a:noFill/>
              <a:ln w="63500" cap="flat" cmpd="sng">
                <a:solidFill>
                  <a:srgbClr val="DDDDDD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</p:cxnSp>
          <p:pic>
            <p:nvPicPr>
              <p:cNvPr id="233" name="Google Shape;233;p1" descr="그래픽 7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682498" y="5769257"/>
                <a:ext cx="1102261" cy="5171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4" name="Google Shape;234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81141" y="5850848"/>
              <a:ext cx="1533822" cy="3539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53230" y="5720766"/>
              <a:ext cx="1659439" cy="6141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" y="13"/>
            <a:ext cx="1693327" cy="66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2"/>
          <p:cNvGrpSpPr/>
          <p:nvPr/>
        </p:nvGrpSpPr>
        <p:grpSpPr>
          <a:xfrm>
            <a:off x="36513" y="0"/>
            <a:ext cx="12192000" cy="6858000"/>
            <a:chOff x="412948" y="440928"/>
            <a:chExt cx="11366134" cy="5976144"/>
          </a:xfrm>
        </p:grpSpPr>
        <p:sp>
          <p:nvSpPr>
            <p:cNvPr id="242" name="Google Shape;242;p2"/>
            <p:cNvSpPr/>
            <p:nvPr/>
          </p:nvSpPr>
          <p:spPr>
            <a:xfrm>
              <a:off x="412948" y="440928"/>
              <a:ext cx="11366104" cy="59761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3" name="Google Shape;243;p2" descr="CK_pc004110935.jpg"/>
            <p:cNvPicPr preferRelativeResize="0"/>
            <p:nvPr/>
          </p:nvPicPr>
          <p:blipFill rotWithShape="1">
            <a:blip r:embed="rId3">
              <a:alphaModFix amt="25110"/>
            </a:blip>
            <a:srcRect t="10175" b="16034"/>
            <a:stretch/>
          </p:blipFill>
          <p:spPr>
            <a:xfrm>
              <a:off x="412948" y="440928"/>
              <a:ext cx="11366134" cy="59761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"/>
          <p:cNvSpPr txBox="1"/>
          <p:nvPr/>
        </p:nvSpPr>
        <p:spPr>
          <a:xfrm>
            <a:off x="1339074" y="1101946"/>
            <a:ext cx="2179762" cy="77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"/>
          <p:cNvSpPr txBox="1"/>
          <p:nvPr/>
        </p:nvSpPr>
        <p:spPr>
          <a:xfrm>
            <a:off x="1339074" y="2490546"/>
            <a:ext cx="6154802" cy="235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Ⅰ. 6월 업무 진행 현황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Ⅱ. 차월 계획(7월)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Ⅲ. 예산집행현황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3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252" name="Google Shape;252;p3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" name="Google Shape;253;p3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54" name="Google Shape;254;p3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255" name="Google Shape;255;p3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3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수집 및 가공현황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6월 추가 확보 없음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3"/>
          <p:cNvGraphicFramePr/>
          <p:nvPr/>
        </p:nvGraphicFramePr>
        <p:xfrm>
          <a:off x="1176868" y="27070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{80CEA491-6694-41A5-8049-A38F30CFA198}</a:tableStyleId>
              </a:tblPr>
              <a:tblGrid>
                <a:gridCol w="167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위암</a:t>
                      </a:r>
                      <a:endParaRPr sz="11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전립선암</a:t>
                      </a:r>
                      <a:endParaRPr sz="11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난소암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누적 수집 데이터/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목표 수집 데이터 </a:t>
                      </a:r>
                      <a:endParaRPr sz="11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1,037 / 2,000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3,556 / 2,000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1,529/ 2,000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진 척 률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51.85%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177.8%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76.45%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1" name="Google Shape;26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graphicFrame>
        <p:nvGraphicFramePr>
          <p:cNvPr id="262" name="Google Shape;262;p3"/>
          <p:cNvGraphicFramePr/>
          <p:nvPr/>
        </p:nvGraphicFramePr>
        <p:xfrm>
          <a:off x="1176868" y="44628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{B044895D-7EF4-4A6B-92A9-B655BD613CE0}</a:tableStyleId>
              </a:tblPr>
              <a:tblGrid>
                <a:gridCol w="15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6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위암(STOP)</a:t>
                      </a:r>
                      <a:endParaRPr sz="11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전립선암(PROP)</a:t>
                      </a:r>
                      <a:endParaRPr sz="11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난소암(OVCA)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/>
                        <a:t>Images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1,037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3,556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1,529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6,122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Annotation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1,024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3,556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1,379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5,959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</a:rPr>
                        <a:t>Review</a:t>
                      </a:r>
                      <a:endParaRPr sz="12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207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565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1,624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3" name="Google Shape;263;p3"/>
          <p:cNvSpPr txBox="1"/>
          <p:nvPr/>
        </p:nvSpPr>
        <p:spPr>
          <a:xfrm>
            <a:off x="1176868" y="2389886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lang="ko-K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수집 현황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"/>
          <p:cNvSpPr txBox="1"/>
          <p:nvPr/>
        </p:nvSpPr>
        <p:spPr>
          <a:xfrm>
            <a:off x="1176868" y="4145645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lang="ko-K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가공 현황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59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271" name="Google Shape;271;p59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" name="Google Shape;272;p59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73" name="Google Shape;273;p59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274" name="Google Shape;274;p59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59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9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9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9"/>
          <p:cNvSpPr txBox="1"/>
          <p:nvPr/>
        </p:nvSpPr>
        <p:spPr>
          <a:xfrm>
            <a:off x="919022" y="1258418"/>
            <a:ext cx="102731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공간 전사체 데이터 생산 완료 사항 - 포트레이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280" name="Google Shape;280;p59"/>
          <p:cNvSpPr txBox="1"/>
          <p:nvPr/>
        </p:nvSpPr>
        <p:spPr>
          <a:xfrm>
            <a:off x="1168438" y="2052041"/>
            <a:ext cx="6257598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데이터 생산 현황 (Xenium 5K prime panel)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Prostate cancer 16건 완료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Stomach cancer 10건 완료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데이터 생산 현황 (Xenium 5K prime panel)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Ovarian cancer 8건 완료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데이터는 12월 말 질병관리청에 Raw data, Processed data에 대해서 모두 제출 완료 하였음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60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287" name="Google Shape;287;p60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" name="Google Shape;288;p60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89" name="Google Shape;289;p60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290" name="Google Shape;290;p60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60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0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0"/>
          <p:cNvSpPr txBox="1"/>
          <p:nvPr/>
        </p:nvSpPr>
        <p:spPr>
          <a:xfrm>
            <a:off x="919022" y="1258418"/>
            <a:ext cx="102731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공간 전사체 데이터 준비 현황 - 포트레이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96" name="Google Shape;296;p60"/>
          <p:cNvSpPr txBox="1"/>
          <p:nvPr/>
        </p:nvSpPr>
        <p:spPr>
          <a:xfrm>
            <a:off x="1168437" y="2052041"/>
            <a:ext cx="6313018" cy="235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데이터 생산 계획 (Xenium 5K prime panel)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Ovarian cancer 30개 전달받아서 현재 실험 중 → 7월 중 데이터 생산 완료 예정 (사진 참조)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26건, 2026년 38건으로 총 54건 생산 완료 예정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데이터는 8월 중에 Raw data, Processed data에 대해서 모두 제출 완료 가능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60" title="IMG_2483.jpg"/>
          <p:cNvPicPr preferRelativeResize="0"/>
          <p:nvPr/>
        </p:nvPicPr>
        <p:blipFill rotWithShape="1">
          <a:blip r:embed="rId3">
            <a:alphaModFix/>
          </a:blip>
          <a:srcRect t="38270" b="10284"/>
          <a:stretch/>
        </p:blipFill>
        <p:spPr>
          <a:xfrm>
            <a:off x="7552267" y="2156353"/>
            <a:ext cx="4088871" cy="30756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61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04" name="Google Shape;304;p61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61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06" name="Google Shape;306;p61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07" name="Google Shape;307;p61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61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1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1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임상데이터 매칭을 위한 데이터 세목 조율 진행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임상 데이터 매칭을 위한 세목 및 리스트업 완료, 내부 데이터 수집 전담기관과 논의 후 7월 부터 매칭 예정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pic>
        <p:nvPicPr>
          <p:cNvPr id="313" name="Google Shape;31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4749" y="2289658"/>
            <a:ext cx="3954751" cy="386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1423" y="2289650"/>
            <a:ext cx="1203103" cy="386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9491" y="2289648"/>
            <a:ext cx="4480527" cy="386641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1"/>
          <p:cNvSpPr txBox="1"/>
          <p:nvPr/>
        </p:nvSpPr>
        <p:spPr>
          <a:xfrm>
            <a:off x="8469129" y="6148562"/>
            <a:ext cx="30202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KBN CDM V3.1_테이블정의서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62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23" name="Google Shape;323;p62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4" name="Google Shape;324;p62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25" name="Google Shape;325;p62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26" name="Google Shape;326;p62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62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2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2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AI모델 개발 현황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개선 사항 반영 및 학습 진행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grpSp>
        <p:nvGrpSpPr>
          <p:cNvPr id="332" name="Google Shape;332;p62"/>
          <p:cNvGrpSpPr/>
          <p:nvPr/>
        </p:nvGrpSpPr>
        <p:grpSpPr>
          <a:xfrm>
            <a:off x="8748269" y="1984984"/>
            <a:ext cx="2892869" cy="4069999"/>
            <a:chOff x="8297924" y="2177462"/>
            <a:chExt cx="3235068" cy="4551442"/>
          </a:xfrm>
        </p:grpSpPr>
        <p:pic>
          <p:nvPicPr>
            <p:cNvPr id="333" name="Google Shape;333;p62"/>
            <p:cNvPicPr preferRelativeResize="0"/>
            <p:nvPr/>
          </p:nvPicPr>
          <p:blipFill rotWithShape="1">
            <a:blip r:embed="rId3">
              <a:alphaModFix/>
            </a:blip>
            <a:srcRect b="61103"/>
            <a:stretch/>
          </p:blipFill>
          <p:spPr>
            <a:xfrm>
              <a:off x="8297924" y="2177462"/>
              <a:ext cx="3233504" cy="185063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4" name="Google Shape;334;p62"/>
            <p:cNvGrpSpPr/>
            <p:nvPr/>
          </p:nvGrpSpPr>
          <p:grpSpPr>
            <a:xfrm>
              <a:off x="8297924" y="4056109"/>
              <a:ext cx="3235068" cy="2672795"/>
              <a:chOff x="7173967" y="2668589"/>
              <a:chExt cx="4663155" cy="3852673"/>
            </a:xfrm>
          </p:grpSpPr>
          <p:pic>
            <p:nvPicPr>
              <p:cNvPr id="335" name="Google Shape;335;p62"/>
              <p:cNvPicPr preferRelativeResize="0"/>
              <p:nvPr/>
            </p:nvPicPr>
            <p:blipFill rotWithShape="1">
              <a:blip r:embed="rId3">
                <a:alphaModFix/>
              </a:blip>
              <a:srcRect t="44411" b="31615"/>
              <a:stretch/>
            </p:blipFill>
            <p:spPr>
              <a:xfrm>
                <a:off x="7176223" y="2668589"/>
                <a:ext cx="4660899" cy="16441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6" name="Google Shape;336;p62"/>
              <p:cNvPicPr preferRelativeResize="0"/>
              <p:nvPr/>
            </p:nvPicPr>
            <p:blipFill rotWithShape="1">
              <a:blip r:embed="rId3">
                <a:alphaModFix/>
              </a:blip>
              <a:srcRect t="68386"/>
              <a:stretch/>
            </p:blipFill>
            <p:spPr>
              <a:xfrm>
                <a:off x="7173967" y="4353143"/>
                <a:ext cx="4660899" cy="21681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37" name="Google Shape;337;p62"/>
          <p:cNvSpPr txBox="1"/>
          <p:nvPr/>
        </p:nvSpPr>
        <p:spPr>
          <a:xfrm>
            <a:off x="1174747" y="2219509"/>
            <a:ext cx="7590561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Instance Segmentation 성능저하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개별 세포핵 구분 성능 개선 필요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 HV Loss 가중치 조정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573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Weight 파라미터 튜닝을 통한 HV 계열 가중치 강화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57350" marR="0" lvl="3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imbalance로 인한 classification 및 segmentation 성능 저하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클래스 분포에 따른 성능차이 개선 필요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1. Class 별 loss에 대해 가중치가 적용된 Loss로 조정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2. 난이도가 어려운 샘플을 맞췄을 때를 상정한 Focal loss도입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63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44" name="Google Shape;344;p63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63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46" name="Google Shape;346;p63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47" name="Google Shape;347;p63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8" name="Google Shape;348;p63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3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3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3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AI모델 개발 현황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지난달의 개선사항이 반영된 수정모델의 중간 성능 평가(학습 진행 중)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pic>
        <p:nvPicPr>
          <p:cNvPr id="353" name="Google Shape;35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587" y="3735004"/>
            <a:ext cx="2691258" cy="26912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54" name="Google Shape;354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7598" y="3735004"/>
            <a:ext cx="2691258" cy="269125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55" name="Google Shape;355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611" y="3735011"/>
            <a:ext cx="2691259" cy="26912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56" name="Google Shape;356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3623" y="3736963"/>
            <a:ext cx="2691259" cy="26912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57" name="Google Shape;357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575" y="2050897"/>
            <a:ext cx="11070300" cy="15999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64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64" name="Google Shape;364;p64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과제 진행 현황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5" name="Google Shape;365;p64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66" name="Google Shape;366;p64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67" name="Google Shape;367;p64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64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4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4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4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논문 실적 현황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Sci Q1 저널 2편 달성 완료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pic>
        <p:nvPicPr>
          <p:cNvPr id="373" name="Google Shape;373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4600" y="2012239"/>
            <a:ext cx="3335956" cy="449842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74" name="Google Shape;374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5712" y="2012239"/>
            <a:ext cx="3251685" cy="44984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65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81" name="Google Shape;381;p65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차월 계획(7월)</a:t>
              </a:r>
              <a:endParaRPr sz="24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65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83" name="Google Shape;383;p65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84" name="Google Shape;384;p65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65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5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5"/>
          <p:cNvSpPr txBox="1"/>
          <p:nvPr/>
        </p:nvSpPr>
        <p:spPr>
          <a:xfrm>
            <a:off x="919022" y="1258418"/>
            <a:ext cx="11060542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병리 데이터 수집 계획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기존 목표(6,000건)를 초과 달성한 총 6,122건에 대한 전수 오류 점검 및 품질 유지 보수 지속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하반기 임상/역학 정보 매핑을 위한 메타데이터 구조 사전 정비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공간전사체 데이터 준비 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2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6월 초·중순에 가천대 길병원으로부터 잔여 블록 4개를 추가 수령하여 2차년도 타겟 공간전사체 데이터 생산 100% 완료 및 정합성 테스트 진행 예정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2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생산 후 해당 데이터에 대한 cell mask 생성 예정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데이터가공 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 1차 가공 완료된 5,959건 중 병리 전문의 정밀 리뷰가 완료된 1,624건의 비율을 빠르게 끌어올려, AI 학습용 고품질 정답지(Ground Truth) 확보 가속화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임상데이터 매칭 진행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AI모델 개발 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비대칭 클래스에 대한 보완 및 분류, 분할 성능 개선을 위한 loss 함수 개선된 모델 학습완료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Vision Transformer 기반의 신규 ‘CellVit’ 모델 구축 완료 및 기존 Hover-Net 과의 성능 비교(투트랙 검증) 진행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연구비/행정 계획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2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해당 사항 없음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66"/>
          <p:cNvGrpSpPr/>
          <p:nvPr/>
        </p:nvGrpSpPr>
        <p:grpSpPr>
          <a:xfrm>
            <a:off x="570850" y="822223"/>
            <a:ext cx="11070288" cy="432397"/>
            <a:chOff x="570850" y="822223"/>
            <a:chExt cx="11070288" cy="432397"/>
          </a:xfrm>
        </p:grpSpPr>
        <p:sp>
          <p:nvSpPr>
            <p:cNvPr id="396" name="Google Shape;396;p66"/>
            <p:cNvSpPr txBox="1"/>
            <p:nvPr/>
          </p:nvSpPr>
          <p:spPr>
            <a:xfrm>
              <a:off x="1174749" y="822223"/>
              <a:ext cx="5640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예산집행현황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" name="Google Shape;397;p66"/>
            <p:cNvCxnSpPr/>
            <p:nvPr/>
          </p:nvCxnSpPr>
          <p:spPr>
            <a:xfrm>
              <a:off x="976148" y="1254620"/>
              <a:ext cx="10664990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98" name="Google Shape;398;p66"/>
            <p:cNvCxnSpPr/>
            <p:nvPr/>
          </p:nvCxnSpPr>
          <p:spPr>
            <a:xfrm>
              <a:off x="570850" y="1254620"/>
              <a:ext cx="403037" cy="0"/>
            </a:xfrm>
            <a:prstGeom prst="straightConnector1">
              <a:avLst/>
            </a:prstGeom>
            <a:noFill/>
            <a:ln w="38100" cap="rnd" cmpd="sng">
              <a:solidFill>
                <a:srgbClr val="0049F0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399" name="Google Shape;399;p66"/>
            <p:cNvSpPr txBox="1"/>
            <p:nvPr/>
          </p:nvSpPr>
          <p:spPr>
            <a:xfrm>
              <a:off x="570850" y="822223"/>
              <a:ext cx="3481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9F0"/>
                </a:buClr>
                <a:buSzPts val="2400"/>
                <a:buFont typeface="Arial"/>
                <a:buNone/>
              </a:pPr>
              <a:r>
                <a:rPr lang="ko-KR" sz="2400" b="1" i="0" u="none" strike="noStrike" cap="none">
                  <a:solidFill>
                    <a:srgbClr val="0049F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66"/>
          <p:cNvSpPr/>
          <p:nvPr/>
        </p:nvSpPr>
        <p:spPr>
          <a:xfrm>
            <a:off x="9859701" y="205776"/>
            <a:ext cx="1781437" cy="11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6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6"/>
          <p:cNvSpPr txBox="1"/>
          <p:nvPr/>
        </p:nvSpPr>
        <p:spPr>
          <a:xfrm>
            <a:off x="570849" y="322591"/>
            <a:ext cx="61686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공간 바이오마커 개발을 위한 디지털병리 기반 인공지능 학습용 데이터 구축</a:t>
            </a:r>
            <a:endParaRPr sz="1400" b="1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graphicFrame>
        <p:nvGraphicFramePr>
          <p:cNvPr id="404" name="Google Shape;404;p66"/>
          <p:cNvGraphicFramePr/>
          <p:nvPr/>
        </p:nvGraphicFramePr>
        <p:xfrm>
          <a:off x="959436" y="24827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{86A80D55-018E-4ADF-9C5F-7C4B4FE6E261}</a:tableStyleId>
              </a:tblPr>
              <a:tblGrid>
                <a:gridCol w="25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lt1"/>
                          </a:solidFill>
                        </a:rPr>
                        <a:t>주관(참여)기관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lt1"/>
                          </a:solidFill>
                        </a:rPr>
                        <a:t>총 사업비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lt1"/>
                          </a:solidFill>
                        </a:rPr>
                        <a:t>(누계) 집행액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lt1"/>
                          </a:solidFill>
                        </a:rPr>
                        <a:t>집행률(%)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㈜어반데이터랩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63,000,000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20,296,612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32.21%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㈜포트래이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150,000,000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22,325,771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14.88%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의료법인 길의료재단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87,000,000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/>
                        <a:t>46,027,242</a:t>
                      </a:r>
                      <a:endParaRPr sz="16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/>
                        <a:t>52.9</a:t>
                      </a: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총액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</a:rPr>
                        <a:t>300,000,000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/>
                        <a:t>88,649,625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/>
                        <a:t>29.5</a:t>
                      </a: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5" name="Google Shape;405;p66"/>
          <p:cNvSpPr txBox="1"/>
          <p:nvPr/>
        </p:nvSpPr>
        <p:spPr>
          <a:xfrm>
            <a:off x="10281489" y="2153662"/>
            <a:ext cx="1292773" cy="33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(단위: 원)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6"/>
          <p:cNvSpPr txBox="1"/>
          <p:nvPr/>
        </p:nvSpPr>
        <p:spPr>
          <a:xfrm>
            <a:off x="919022" y="1258418"/>
            <a:ext cx="102731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5.27일 기준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6월 최신화 취합 후 제공 예정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413" name="Google Shape;413;p13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rgbClr val="0049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3"/>
            <p:cNvSpPr txBox="1"/>
            <p:nvPr/>
          </p:nvSpPr>
          <p:spPr>
            <a:xfrm>
              <a:off x="2564969" y="3659860"/>
              <a:ext cx="3216586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00"/>
                <a:buFont typeface="Arial"/>
                <a:buNone/>
              </a:pPr>
              <a:r>
                <a:rPr lang="ko-KR" sz="4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감사합니다.</a:t>
              </a:r>
              <a:endParaRPr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5" name="Google Shape;415;p13"/>
            <p:cNvCxnSpPr/>
            <p:nvPr/>
          </p:nvCxnSpPr>
          <p:spPr>
            <a:xfrm>
              <a:off x="1683657" y="4514637"/>
              <a:ext cx="4412343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sp>
          <p:nvSpPr>
            <p:cNvPr id="416" name="Google Shape;416;p13"/>
            <p:cNvSpPr txBox="1"/>
            <p:nvPr/>
          </p:nvSpPr>
          <p:spPr>
            <a:xfrm rot="5400000">
              <a:off x="43202" y="1482511"/>
              <a:ext cx="1200970" cy="2792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1050"/>
                <a:buFont typeface="Arial"/>
                <a:buNone/>
              </a:pPr>
              <a:r>
                <a:rPr lang="ko-KR" sz="1050" b="1" i="0" u="none" strike="noStrike" cap="none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URBANDATALAB</a:t>
              </a:r>
              <a:endParaRPr sz="105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13"/>
          <p:cNvSpPr txBox="1"/>
          <p:nvPr/>
        </p:nvSpPr>
        <p:spPr>
          <a:xfrm>
            <a:off x="11574262" y="6450513"/>
            <a:ext cx="260605" cy="238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fld id="{00000000-1234-1234-1234-123412341234}" type="slidenum">
              <a:rPr lang="en-US" altLang="ko-KR" sz="1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0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Macintosh PowerPoint</Application>
  <PresentationFormat>와이드스크린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Noto Sans Symbols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방 정규</dc:creator>
  <cp:lastModifiedBy>구 우영</cp:lastModifiedBy>
  <cp:revision>1</cp:revision>
  <dcterms:created xsi:type="dcterms:W3CDTF">2024-12-27T00:52:35Z</dcterms:created>
  <dcterms:modified xsi:type="dcterms:W3CDTF">2026-07-27T05:29:45Z</dcterms:modified>
</cp:coreProperties>
</file>