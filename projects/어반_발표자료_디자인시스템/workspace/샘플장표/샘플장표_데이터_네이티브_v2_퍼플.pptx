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gradFill rotWithShape="1">
            <a:gsLst>
              <a:gs pos="0">
                <a:srgbClr val="14DEAF"/>
              </a:gs>
              <a:gs pos="100000">
                <a:srgbClr val="745C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533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spc="36">
                <a:solidFill>
                  <a:srgbClr val="B9B6D6"/>
                </a:solidFill>
                <a:latin typeface="Freesentation 7 Bold"/>
              </a:rPr>
              <a:t>URBAN DATA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spc="36">
                <a:solidFill>
                  <a:srgbClr val="8A87AC"/>
                </a:solidFill>
                <a:latin typeface="Freesentation 5 Medium"/>
              </a:rPr>
              <a:t>2026 질병관리청 공간전사체 · 2차년도 중간보고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106424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108CEB"/>
                </a:solidFill>
                <a:latin typeface="Paperlogy 8 ExtraBold"/>
              </a:rPr>
              <a:t>DATA COLLECTION &amp; ANNOTATION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19200"/>
            <a:ext cx="1106424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spc="-60">
                <a:solidFill>
                  <a:srgbClr val="FFFFFF"/>
                </a:solidFill>
                <a:latin typeface="Paperlogy 7 Bold"/>
              </a:rPr>
              <a:t>계약 기준 3,000건의 </a:t>
            </a:r>
            <a:r>
              <a:rPr sz="2400" spc="-60">
                <a:solidFill>
                  <a:srgbClr val="9B8AF2"/>
                </a:solidFill>
                <a:latin typeface="Paperlogy 7 Bold"/>
              </a:rPr>
              <a:t>2배</a:t>
            </a:r>
            <a:r>
              <a:rPr sz="2400" spc="-60">
                <a:solidFill>
                  <a:srgbClr val="FFFFFF"/>
                </a:solidFill>
                <a:latin typeface="Paperlogy 7 Bold"/>
              </a:rPr>
              <a:t>를 확보했고, 1차 가공은 97% 완료했습니다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141235"/>
          </a:solidFill>
          <a:ln w="762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B9B6D6"/>
                </a:solidFill>
                <a:latin typeface="Freesentation 5 Medium"/>
              </a:rPr>
              <a:t>수집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FFFFFF"/>
                </a:solidFill>
                <a:latin typeface="Paperlogy 9 Black"/>
              </a:rPr>
              <a:t>6,122</a:t>
            </a:r>
            <a:r>
              <a:rPr sz="3360" spc="-102">
                <a:solidFill>
                  <a:srgbClr val="8A87AC"/>
                </a:solidFill>
                <a:latin typeface="Paperlogy 9 Black"/>
              </a:rPr>
              <a:t>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8A87AC"/>
                </a:solidFill>
                <a:latin typeface="Paperlogy 6 SemiBold"/>
              </a:rPr>
              <a:t>계약 요건 3,000건 대비 204% · 3개 조직 각 1,000건 충족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141235"/>
          </a:solidFill>
          <a:ln w="762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B9B6D6"/>
                </a:solidFill>
                <a:latin typeface="Freesentation 5 Medium"/>
              </a:rPr>
              <a:t>1차 어노테이션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FFFFFF"/>
                </a:solidFill>
                <a:latin typeface="Paperlogy 9 Black"/>
              </a:rPr>
              <a:t>5,959</a:t>
            </a:r>
            <a:r>
              <a:rPr sz="3360" spc="-102">
                <a:solidFill>
                  <a:srgbClr val="8A87AC"/>
                </a:solidFill>
                <a:latin typeface="Paperlogy 9 Black"/>
              </a:rPr>
              <a:t>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8A87AC"/>
                </a:solidFill>
                <a:latin typeface="Paperlogy 6 SemiBold"/>
              </a:rPr>
              <a:t>수집 대비 97.3%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141235"/>
          </a:solidFill>
          <a:ln w="15240">
            <a:solidFill>
              <a:srgbClr val="9B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B9B6D6"/>
                </a:solidFill>
                <a:latin typeface="Freesentation 5 Medium"/>
              </a:rPr>
              <a:t>전문의 정밀 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FFFFFF"/>
                </a:solidFill>
                <a:latin typeface="Paperlogy 9 Black"/>
              </a:rPr>
              <a:t>1,624</a:t>
            </a:r>
            <a:r>
              <a:rPr sz="3360" spc="-102">
                <a:solidFill>
                  <a:srgbClr val="9B8AF2"/>
                </a:solidFill>
                <a:latin typeface="Paperlogy 9 Black"/>
              </a:rPr>
              <a:t>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154680"/>
            <a:ext cx="1280160" cy="38100"/>
          </a:xfrm>
          <a:prstGeom prst="rect">
            <a:avLst/>
          </a:prstGeom>
          <a:solidFill>
            <a:srgbClr val="9B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8A87AC"/>
                </a:solidFill>
                <a:latin typeface="Paperlogy 6 SemiBold"/>
              </a:rPr>
              <a:t>어노테이션 대비 27.3% · 하반기 최우선 과제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4360" y="3733800"/>
          <a:ext cx="11064239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7987"/>
                <a:gridCol w="1991563"/>
                <a:gridCol w="1991563"/>
                <a:gridCol w="1991563"/>
                <a:gridCol w="1991563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B9B6D6"/>
                          </a:solidFill>
                          <a:latin typeface="Paperlogy 7 Bold"/>
                        </a:rPr>
                        <a:t>구분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7 Bold"/>
                        </a:rPr>
                        <a:t>위암 (STOP)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7 Bold"/>
                        </a:rPr>
                        <a:t>전립선암 (PROP)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7 Bold"/>
                        </a:rPr>
                        <a:t>난소암 (OVCA)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7 Bold"/>
                        </a:rPr>
                        <a:t>계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수집 이미지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1,037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3,556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1,529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6,122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1차 어노테이션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1,024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3,556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1,379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5,959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전문의 리뷰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207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852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565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1,624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4360" y="6217920"/>
            <a:ext cx="11064240" cy="7620"/>
          </a:xfrm>
          <a:prstGeom prst="rect">
            <a:avLst/>
          </a:prstGeom>
          <a:solidFill>
            <a:srgbClr val="23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324600"/>
            <a:ext cx="838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spc="36">
                <a:solidFill>
                  <a:srgbClr val="8A87AC"/>
                </a:solidFill>
                <a:latin typeface="Freesentation 5 Medium"/>
              </a:rPr>
              <a:t>출처: 공간바이오마커_중간보고회_v0.5 (2026-07-27) · 계약 기준은 제안요청서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24600"/>
            <a:ext cx="1106424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spc="36">
                <a:solidFill>
                  <a:srgbClr val="8A87AC"/>
                </a:solidFill>
                <a:latin typeface="Freesentation 5 Medium"/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gradFill rotWithShape="1">
            <a:gsLst>
              <a:gs pos="0">
                <a:srgbClr val="14DEAF"/>
              </a:gs>
              <a:gs pos="100000">
                <a:srgbClr val="745C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533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spc="36">
                <a:solidFill>
                  <a:srgbClr val="4A4869"/>
                </a:solidFill>
                <a:latin typeface="Freesentation 7 Bold"/>
              </a:rPr>
              <a:t>URBAN DATA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spc="36">
                <a:solidFill>
                  <a:srgbClr val="7B799A"/>
                </a:solidFill>
                <a:latin typeface="Freesentation 5 Medium"/>
              </a:rPr>
              <a:t>2026 질병관리청 공간전사체 · 2차년도 중간보고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106424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108CEB"/>
                </a:solidFill>
                <a:latin typeface="Paperlogy 8 ExtraBold"/>
              </a:rPr>
              <a:t>DATA COLLECTION &amp; ANNOTATION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19200"/>
            <a:ext cx="1106424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spc="-60">
                <a:solidFill>
                  <a:srgbClr val="0A082B"/>
                </a:solidFill>
                <a:latin typeface="Paperlogy 7 Bold"/>
              </a:rPr>
              <a:t>계약 기준 3,000건의 </a:t>
            </a:r>
            <a:r>
              <a:rPr sz="2400" spc="-60">
                <a:solidFill>
                  <a:srgbClr val="5F45D6"/>
                </a:solidFill>
                <a:latin typeface="Paperlogy 7 Bold"/>
              </a:rPr>
              <a:t>2배</a:t>
            </a:r>
            <a:r>
              <a:rPr sz="2400" spc="-60">
                <a:solidFill>
                  <a:srgbClr val="0A082B"/>
                </a:solidFill>
                <a:latin typeface="Paperlogy 7 Bold"/>
              </a:rPr>
              <a:t>를 확보했고, 1차 가공은 97% 완료했습니다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F5F6FA"/>
          </a:solidFill>
          <a:ln w="7620">
            <a:solidFill>
              <a:srgbClr val="D8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4A4869"/>
                </a:solidFill>
                <a:latin typeface="Freesentation 5 Medium"/>
              </a:rPr>
              <a:t>수집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0A082B"/>
                </a:solidFill>
                <a:latin typeface="Paperlogy 9 Black"/>
              </a:rPr>
              <a:t>6,122</a:t>
            </a:r>
            <a:r>
              <a:rPr sz="3360" spc="-102">
                <a:solidFill>
                  <a:srgbClr val="7B799A"/>
                </a:solidFill>
                <a:latin typeface="Paperlogy 9 Black"/>
              </a:rPr>
              <a:t>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7B799A"/>
                </a:solidFill>
                <a:latin typeface="Paperlogy 6 SemiBold"/>
              </a:rPr>
              <a:t>계약 요건 3,000건 대비 204% · 3개 조직 각 1,000건 충족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F5F6FA"/>
          </a:solidFill>
          <a:ln w="7620">
            <a:solidFill>
              <a:srgbClr val="D8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4A4869"/>
                </a:solidFill>
                <a:latin typeface="Freesentation 5 Medium"/>
              </a:rPr>
              <a:t>1차 어노테이션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0A082B"/>
                </a:solidFill>
                <a:latin typeface="Paperlogy 9 Black"/>
              </a:rPr>
              <a:t>5,959</a:t>
            </a:r>
            <a:r>
              <a:rPr sz="3360" spc="-102">
                <a:solidFill>
                  <a:srgbClr val="7B799A"/>
                </a:solidFill>
                <a:latin typeface="Paperlogy 9 Black"/>
              </a:rPr>
              <a:t>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7B799A"/>
                </a:solidFill>
                <a:latin typeface="Paperlogy 6 SemiBold"/>
              </a:rPr>
              <a:t>수집 대비 97.3%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F5F6FA"/>
          </a:solidFill>
          <a:ln w="15240">
            <a:solidFill>
              <a:srgbClr val="5F4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4A4869"/>
                </a:solidFill>
                <a:latin typeface="Freesentation 5 Medium"/>
              </a:rPr>
              <a:t>전문의 정밀 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0A082B"/>
                </a:solidFill>
                <a:latin typeface="Paperlogy 9 Black"/>
              </a:rPr>
              <a:t>1,624</a:t>
            </a:r>
            <a:r>
              <a:rPr sz="3360" spc="-102">
                <a:solidFill>
                  <a:srgbClr val="5F45D6"/>
                </a:solidFill>
                <a:latin typeface="Paperlogy 9 Black"/>
              </a:rPr>
              <a:t>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154680"/>
            <a:ext cx="1280160" cy="38100"/>
          </a:xfrm>
          <a:prstGeom prst="rect">
            <a:avLst/>
          </a:prstGeom>
          <a:solidFill>
            <a:srgbClr val="5F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7B799A"/>
                </a:solidFill>
                <a:latin typeface="Paperlogy 6 SemiBold"/>
              </a:rPr>
              <a:t>어노테이션 대비 27.3% · 하반기 최우선 과제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4360" y="3733800"/>
          <a:ext cx="11064239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7987"/>
                <a:gridCol w="1991563"/>
                <a:gridCol w="1991563"/>
                <a:gridCol w="1991563"/>
                <a:gridCol w="1991563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4A4869"/>
                          </a:solidFill>
                          <a:latin typeface="Paperlogy 7 Bold"/>
                        </a:rPr>
                        <a:t>구분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7 Bold"/>
                        </a:rPr>
                        <a:t>위암 (STOP)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7 Bold"/>
                        </a:rPr>
                        <a:t>전립선암 (PROP)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7 Bold"/>
                        </a:rPr>
                        <a:t>난소암 (OVCA)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7 Bold"/>
                        </a:rPr>
                        <a:t>계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수집 이미지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1,037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3,556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1,529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6,122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1차 어노테이션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1,024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3,556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1,379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5,959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전문의 리뷰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207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852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565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1,624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4360" y="6217920"/>
            <a:ext cx="11064240" cy="7620"/>
          </a:xfrm>
          <a:prstGeom prst="rect">
            <a:avLst/>
          </a:prstGeom>
          <a:solidFill>
            <a:srgbClr val="E6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324600"/>
            <a:ext cx="838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spc="36">
                <a:solidFill>
                  <a:srgbClr val="7B799A"/>
                </a:solidFill>
                <a:latin typeface="Freesentation 5 Medium"/>
              </a:rPr>
              <a:t>출처: 공간바이오마커_중간보고회_v0.5 (2026-07-27) · 계약 기준은 제안요청서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24600"/>
            <a:ext cx="1106424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spc="36">
                <a:solidFill>
                  <a:srgbClr val="7B799A"/>
                </a:solidFill>
                <a:latin typeface="Freesentation 5 Medium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